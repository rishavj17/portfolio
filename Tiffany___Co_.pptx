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74" r:id="rId7"/>
    <p:sldId id="275" r:id="rId8"/>
    <p:sldId id="259" r:id="rId9"/>
    <p:sldId id="260" r:id="rId10"/>
    <p:sldId id="261" r:id="rId11"/>
    <p:sldId id="262" r:id="rId12"/>
    <p:sldId id="263" r:id="rId13"/>
    <p:sldId id="264" r:id="rId14"/>
    <p:sldId id="272" r:id="rId15"/>
    <p:sldId id="268" r:id="rId16"/>
    <p:sldId id="273" r:id="rId17"/>
    <p:sldId id="266" r:id="rId18"/>
    <p:sldId id="267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00"/>
    <a:srgbClr val="FF0066"/>
    <a:srgbClr val="99CCFF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v jhaveri" userId="530146e7a867a6c6" providerId="LiveId" clId="{EF18DFC1-947E-47CA-B336-1C90E0A1A10C}"/>
    <pc:docChg chg="undo custSel addSld modSld">
      <pc:chgData name="Rishav jhaveri" userId="530146e7a867a6c6" providerId="LiveId" clId="{EF18DFC1-947E-47CA-B336-1C90E0A1A10C}" dt="2025-11-02T22:19:18.019" v="336" actId="14100"/>
      <pc:docMkLst>
        <pc:docMk/>
      </pc:docMkLst>
      <pc:sldChg chg="addSp modSp mod">
        <pc:chgData name="Rishav jhaveri" userId="530146e7a867a6c6" providerId="LiveId" clId="{EF18DFC1-947E-47CA-B336-1C90E0A1A10C}" dt="2025-11-02T22:18:13.514" v="332" actId="2711"/>
        <pc:sldMkLst>
          <pc:docMk/>
          <pc:sldMk cId="3025290799" sldId="259"/>
        </pc:sldMkLst>
        <pc:spChg chg="add mod">
          <ac:chgData name="Rishav jhaveri" userId="530146e7a867a6c6" providerId="LiveId" clId="{EF18DFC1-947E-47CA-B336-1C90E0A1A10C}" dt="2025-11-02T22:18:13.514" v="332" actId="2711"/>
          <ac:spMkLst>
            <pc:docMk/>
            <pc:sldMk cId="3025290799" sldId="259"/>
            <ac:spMk id="5" creationId="{F8C4E9C8-3275-A715-983C-FC7883E53127}"/>
          </ac:spMkLst>
        </pc:spChg>
        <pc:spChg chg="mod">
          <ac:chgData name="Rishav jhaveri" userId="530146e7a867a6c6" providerId="LiveId" clId="{EF18DFC1-947E-47CA-B336-1C90E0A1A10C}" dt="2025-11-02T22:17:51.993" v="329" actId="1076"/>
          <ac:spMkLst>
            <pc:docMk/>
            <pc:sldMk cId="3025290799" sldId="259"/>
            <ac:spMk id="8" creationId="{0C5F811A-B5FD-4A72-1FB0-CF87BD27847F}"/>
          </ac:spMkLst>
        </pc:spChg>
        <pc:spChg chg="mod">
          <ac:chgData name="Rishav jhaveri" userId="530146e7a867a6c6" providerId="LiveId" clId="{EF18DFC1-947E-47CA-B336-1C90E0A1A10C}" dt="2025-11-02T22:16:51.197" v="324" actId="20577"/>
          <ac:spMkLst>
            <pc:docMk/>
            <pc:sldMk cId="3025290799" sldId="259"/>
            <ac:spMk id="12" creationId="{4F16C62E-5AA9-EE7A-F68C-292B0EFB4B67}"/>
          </ac:spMkLst>
        </pc:spChg>
        <pc:graphicFrameChg chg="mod modGraphic">
          <ac:chgData name="Rishav jhaveri" userId="530146e7a867a6c6" providerId="LiveId" clId="{EF18DFC1-947E-47CA-B336-1C90E0A1A10C}" dt="2025-11-02T22:17:56.886" v="330" actId="1076"/>
          <ac:graphicFrameMkLst>
            <pc:docMk/>
            <pc:sldMk cId="3025290799" sldId="259"/>
            <ac:graphicFrameMk id="7" creationId="{EF2543D2-5E79-7A47-079C-9DE9B56115F7}"/>
          </ac:graphicFrameMkLst>
        </pc:graphicFrameChg>
      </pc:sldChg>
      <pc:sldChg chg="modSp mod">
        <pc:chgData name="Rishav jhaveri" userId="530146e7a867a6c6" providerId="LiveId" clId="{EF18DFC1-947E-47CA-B336-1C90E0A1A10C}" dt="2025-11-02T21:55:25.707" v="246" actId="1076"/>
        <pc:sldMkLst>
          <pc:docMk/>
          <pc:sldMk cId="2021948380" sldId="264"/>
        </pc:sldMkLst>
        <pc:spChg chg="mod">
          <ac:chgData name="Rishav jhaveri" userId="530146e7a867a6c6" providerId="LiveId" clId="{EF18DFC1-947E-47CA-B336-1C90E0A1A10C}" dt="2025-11-02T21:55:25.707" v="246" actId="1076"/>
          <ac:spMkLst>
            <pc:docMk/>
            <pc:sldMk cId="2021948380" sldId="264"/>
            <ac:spMk id="18" creationId="{0E87210B-1706-3965-888F-0094D57A89B8}"/>
          </ac:spMkLst>
        </pc:spChg>
      </pc:sldChg>
      <pc:sldChg chg="modSp mod">
        <pc:chgData name="Rishav jhaveri" userId="530146e7a867a6c6" providerId="LiveId" clId="{EF18DFC1-947E-47CA-B336-1C90E0A1A10C}" dt="2025-11-02T21:54:13.182" v="201" actId="14100"/>
        <pc:sldMkLst>
          <pc:docMk/>
          <pc:sldMk cId="3181036755" sldId="268"/>
        </pc:sldMkLst>
        <pc:picChg chg="mod">
          <ac:chgData name="Rishav jhaveri" userId="530146e7a867a6c6" providerId="LiveId" clId="{EF18DFC1-947E-47CA-B336-1C90E0A1A10C}" dt="2025-11-02T21:54:13.182" v="201" actId="14100"/>
          <ac:picMkLst>
            <pc:docMk/>
            <pc:sldMk cId="3181036755" sldId="268"/>
            <ac:picMk id="5" creationId="{4A5648FE-B29D-F309-A4B5-09B35330E02E}"/>
          </ac:picMkLst>
        </pc:picChg>
      </pc:sldChg>
      <pc:sldChg chg="addSp delSp modSp mod">
        <pc:chgData name="Rishav jhaveri" userId="530146e7a867a6c6" providerId="LiveId" clId="{EF18DFC1-947E-47CA-B336-1C90E0A1A10C}" dt="2025-11-02T22:19:18.019" v="336" actId="14100"/>
        <pc:sldMkLst>
          <pc:docMk/>
          <pc:sldMk cId="3942483188" sldId="269"/>
        </pc:sldMkLst>
        <pc:spChg chg="add del mod">
          <ac:chgData name="Rishav jhaveri" userId="530146e7a867a6c6" providerId="LiveId" clId="{EF18DFC1-947E-47CA-B336-1C90E0A1A10C}" dt="2025-11-02T22:04:33.749" v="316" actId="478"/>
          <ac:spMkLst>
            <pc:docMk/>
            <pc:sldMk cId="3942483188" sldId="269"/>
            <ac:spMk id="3" creationId="{FBEE3079-5E2E-9795-F149-D36801600820}"/>
          </ac:spMkLst>
        </pc:spChg>
        <pc:spChg chg="add del mod">
          <ac:chgData name="Rishav jhaveri" userId="530146e7a867a6c6" providerId="LiveId" clId="{EF18DFC1-947E-47CA-B336-1C90E0A1A10C}" dt="2025-11-02T22:18:56.977" v="333" actId="478"/>
          <ac:spMkLst>
            <pc:docMk/>
            <pc:sldMk cId="3942483188" sldId="269"/>
            <ac:spMk id="5" creationId="{91616D69-6DAB-C8B0-CD0B-1F42D3478052}"/>
          </ac:spMkLst>
        </pc:spChg>
        <pc:spChg chg="mod">
          <ac:chgData name="Rishav jhaveri" userId="530146e7a867a6c6" providerId="LiveId" clId="{EF18DFC1-947E-47CA-B336-1C90E0A1A10C}" dt="2025-11-02T22:19:18.019" v="336" actId="14100"/>
          <ac:spMkLst>
            <pc:docMk/>
            <pc:sldMk cId="3942483188" sldId="269"/>
            <ac:spMk id="24" creationId="{4E72D654-35E6-4B1F-D279-8A4D8E7723C8}"/>
          </ac:spMkLst>
        </pc:spChg>
        <pc:graphicFrameChg chg="del">
          <ac:chgData name="Rishav jhaveri" userId="530146e7a867a6c6" providerId="LiveId" clId="{EF18DFC1-947E-47CA-B336-1C90E0A1A10C}" dt="2025-11-02T22:02:08.553" v="247" actId="478"/>
          <ac:graphicFrameMkLst>
            <pc:docMk/>
            <pc:sldMk cId="3942483188" sldId="269"/>
            <ac:graphicFrameMk id="19" creationId="{E168AF43-C7C4-FCCB-ABD8-83805AE3E08D}"/>
          </ac:graphicFrameMkLst>
        </pc:graphicFrameChg>
      </pc:sldChg>
      <pc:sldChg chg="addSp delSp modSp new mod modClrScheme chgLayout">
        <pc:chgData name="Rishav jhaveri" userId="530146e7a867a6c6" providerId="LiveId" clId="{EF18DFC1-947E-47CA-B336-1C90E0A1A10C}" dt="2025-11-02T21:50:18.060" v="196" actId="1076"/>
        <pc:sldMkLst>
          <pc:docMk/>
          <pc:sldMk cId="2906787212" sldId="274"/>
        </pc:sldMkLst>
        <pc:spChg chg="del mod ord">
          <ac:chgData name="Rishav jhaveri" userId="530146e7a867a6c6" providerId="LiveId" clId="{EF18DFC1-947E-47CA-B336-1C90E0A1A10C}" dt="2025-11-02T21:30:17.311" v="1" actId="700"/>
          <ac:spMkLst>
            <pc:docMk/>
            <pc:sldMk cId="2906787212" sldId="274"/>
            <ac:spMk id="2" creationId="{FFC3239A-BD2B-9EBC-4C7F-B70D61F9F63F}"/>
          </ac:spMkLst>
        </pc:spChg>
        <pc:spChg chg="del mod ord">
          <ac:chgData name="Rishav jhaveri" userId="530146e7a867a6c6" providerId="LiveId" clId="{EF18DFC1-947E-47CA-B336-1C90E0A1A10C}" dt="2025-11-02T21:30:17.311" v="1" actId="700"/>
          <ac:spMkLst>
            <pc:docMk/>
            <pc:sldMk cId="2906787212" sldId="274"/>
            <ac:spMk id="3" creationId="{5DF13E40-576B-315E-0B60-300918DE3077}"/>
          </ac:spMkLst>
        </pc:spChg>
        <pc:spChg chg="add mod ord">
          <ac:chgData name="Rishav jhaveri" userId="530146e7a867a6c6" providerId="LiveId" clId="{EF18DFC1-947E-47CA-B336-1C90E0A1A10C}" dt="2025-11-02T21:41:19.702" v="154" actId="1076"/>
          <ac:spMkLst>
            <pc:docMk/>
            <pc:sldMk cId="2906787212" sldId="274"/>
            <ac:spMk id="4" creationId="{73BABC20-60F2-BC14-AE92-5891B2398C13}"/>
          </ac:spMkLst>
        </pc:spChg>
        <pc:spChg chg="add del mod ord">
          <ac:chgData name="Rishav jhaveri" userId="530146e7a867a6c6" providerId="LiveId" clId="{EF18DFC1-947E-47CA-B336-1C90E0A1A10C}" dt="2025-11-02T21:41:46.635" v="159" actId="478"/>
          <ac:spMkLst>
            <pc:docMk/>
            <pc:sldMk cId="2906787212" sldId="274"/>
            <ac:spMk id="5" creationId="{ACCDFCA1-E53B-E3A1-4DDE-38267EB5D037}"/>
          </ac:spMkLst>
        </pc:spChg>
        <pc:spChg chg="add mod ord">
          <ac:chgData name="Rishav jhaveri" userId="530146e7a867a6c6" providerId="LiveId" clId="{EF18DFC1-947E-47CA-B336-1C90E0A1A10C}" dt="2025-11-02T21:46:04.171" v="172" actId="1076"/>
          <ac:spMkLst>
            <pc:docMk/>
            <pc:sldMk cId="2906787212" sldId="274"/>
            <ac:spMk id="6" creationId="{01297914-01E9-84CE-A892-07DC8FB9051E}"/>
          </ac:spMkLst>
        </pc:spChg>
        <pc:spChg chg="add del mod ord">
          <ac:chgData name="Rishav jhaveri" userId="530146e7a867a6c6" providerId="LiveId" clId="{EF18DFC1-947E-47CA-B336-1C90E0A1A10C}" dt="2025-11-02T21:42:15.199" v="163" actId="478"/>
          <ac:spMkLst>
            <pc:docMk/>
            <pc:sldMk cId="2906787212" sldId="274"/>
            <ac:spMk id="7" creationId="{F289D78E-30B3-31B6-4254-4D07DCF18F06}"/>
          </ac:spMkLst>
        </pc:spChg>
        <pc:spChg chg="add mod ord">
          <ac:chgData name="Rishav jhaveri" userId="530146e7a867a6c6" providerId="LiveId" clId="{EF18DFC1-947E-47CA-B336-1C90E0A1A10C}" dt="2025-11-02T21:50:18.060" v="196" actId="1076"/>
          <ac:spMkLst>
            <pc:docMk/>
            <pc:sldMk cId="2906787212" sldId="274"/>
            <ac:spMk id="8" creationId="{A30C8C3E-77E3-063C-788B-E338AB1A5A64}"/>
          </ac:spMkLst>
        </pc:spChg>
        <pc:spChg chg="add del mod">
          <ac:chgData name="Rishav jhaveri" userId="530146e7a867a6c6" providerId="LiveId" clId="{EF18DFC1-947E-47CA-B336-1C90E0A1A10C}" dt="2025-11-02T21:41:53.719" v="160" actId="478"/>
          <ac:spMkLst>
            <pc:docMk/>
            <pc:sldMk cId="2906787212" sldId="274"/>
            <ac:spMk id="12" creationId="{F5A0482A-FD0B-7FB6-2A91-B0EF5AA3CE34}"/>
          </ac:spMkLst>
        </pc:spChg>
        <pc:spChg chg="add del mod">
          <ac:chgData name="Rishav jhaveri" userId="530146e7a867a6c6" providerId="LiveId" clId="{EF18DFC1-947E-47CA-B336-1C90E0A1A10C}" dt="2025-11-02T21:43:26.799" v="164" actId="478"/>
          <ac:spMkLst>
            <pc:docMk/>
            <pc:sldMk cId="2906787212" sldId="274"/>
            <ac:spMk id="14" creationId="{0D6ED57A-ADD4-A819-0418-5B008EA9E5D6}"/>
          </ac:spMkLst>
        </pc:spChg>
        <pc:picChg chg="add mod">
          <ac:chgData name="Rishav jhaveri" userId="530146e7a867a6c6" providerId="LiveId" clId="{EF18DFC1-947E-47CA-B336-1C90E0A1A10C}" dt="2025-11-02T21:34:58.267" v="76"/>
          <ac:picMkLst>
            <pc:docMk/>
            <pc:sldMk cId="2906787212" sldId="274"/>
            <ac:picMk id="9" creationId="{628AD7B7-BE92-6E0C-9EC0-ACFC7206B9E1}"/>
          </ac:picMkLst>
        </pc:picChg>
        <pc:picChg chg="add mod">
          <ac:chgData name="Rishav jhaveri" userId="530146e7a867a6c6" providerId="LiveId" clId="{EF18DFC1-947E-47CA-B336-1C90E0A1A10C}" dt="2025-11-02T21:46:11.089" v="174" actId="14100"/>
          <ac:picMkLst>
            <pc:docMk/>
            <pc:sldMk cId="2906787212" sldId="274"/>
            <ac:picMk id="10" creationId="{7189A4D3-DAE1-638C-3577-CA566D5B06B0}"/>
          </ac:picMkLst>
        </pc:picChg>
        <pc:picChg chg="add mod">
          <ac:chgData name="Rishav jhaveri" userId="530146e7a867a6c6" providerId="LiveId" clId="{EF18DFC1-947E-47CA-B336-1C90E0A1A10C}" dt="2025-11-02T21:49:52.828" v="195" actId="1076"/>
          <ac:picMkLst>
            <pc:docMk/>
            <pc:sldMk cId="2906787212" sldId="274"/>
            <ac:picMk id="15" creationId="{AD32935F-DFB1-7FBF-7B96-A3B34C0F19F6}"/>
          </ac:picMkLst>
        </pc:picChg>
      </pc:sldChg>
      <pc:sldChg chg="addSp delSp modSp add mod">
        <pc:chgData name="Rishav jhaveri" userId="530146e7a867a6c6" providerId="LiveId" clId="{EF18DFC1-947E-47CA-B336-1C90E0A1A10C}" dt="2025-11-02T21:50:40.137" v="197" actId="1076"/>
        <pc:sldMkLst>
          <pc:docMk/>
          <pc:sldMk cId="2305258873" sldId="275"/>
        </pc:sldMkLst>
        <pc:spChg chg="add del">
          <ac:chgData name="Rishav jhaveri" userId="530146e7a867a6c6" providerId="LiveId" clId="{EF18DFC1-947E-47CA-B336-1C90E0A1A10C}" dt="2025-11-02T21:46:32.261" v="177" actId="22"/>
          <ac:spMkLst>
            <pc:docMk/>
            <pc:sldMk cId="2305258873" sldId="275"/>
            <ac:spMk id="3" creationId="{3D2DE63D-0739-111A-41C2-D77DD238D562}"/>
          </ac:spMkLst>
        </pc:spChg>
        <pc:spChg chg="mod">
          <ac:chgData name="Rishav jhaveri" userId="530146e7a867a6c6" providerId="LiveId" clId="{EF18DFC1-947E-47CA-B336-1C90E0A1A10C}" dt="2025-11-02T21:46:47.758" v="181" actId="255"/>
          <ac:spMkLst>
            <pc:docMk/>
            <pc:sldMk cId="2305258873" sldId="275"/>
            <ac:spMk id="6" creationId="{E9969C8C-D2B4-0F01-8557-7030150E880E}"/>
          </ac:spMkLst>
        </pc:spChg>
        <pc:spChg chg="mod">
          <ac:chgData name="Rishav jhaveri" userId="530146e7a867a6c6" providerId="LiveId" clId="{EF18DFC1-947E-47CA-B336-1C90E0A1A10C}" dt="2025-11-02T21:50:40.137" v="197" actId="1076"/>
          <ac:spMkLst>
            <pc:docMk/>
            <pc:sldMk cId="2305258873" sldId="275"/>
            <ac:spMk id="8" creationId="{CFAFA12B-D60F-12A5-B281-633FC08B9471}"/>
          </ac:spMkLst>
        </pc:spChg>
        <pc:picChg chg="add mod">
          <ac:chgData name="Rishav jhaveri" userId="530146e7a867a6c6" providerId="LiveId" clId="{EF18DFC1-947E-47CA-B336-1C90E0A1A10C}" dt="2025-11-02T21:47:35.125" v="187" actId="1076"/>
          <ac:picMkLst>
            <pc:docMk/>
            <pc:sldMk cId="2305258873" sldId="275"/>
            <ac:picMk id="5" creationId="{E3C809D8-F14D-53E7-6316-40D7082C4452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have\Downloads\Tiffan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IN" sz="1800" b="1" i="0">
                <a:effectLst/>
              </a:rPr>
              <a:t>Revenue Mix: Tiffany vs LVMH (2018)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endParaRPr lang="en-IN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526314354854278E-2"/>
          <c:y val="0.18011700651257492"/>
          <c:w val="0.89153965225550313"/>
          <c:h val="0.65352465466961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'Valuation Analysis'!$Y$3</c:f>
              <c:strCache>
                <c:ptCount val="1"/>
                <c:pt idx="0">
                  <c:v>Tiffany %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'Valuation Analysis'!$X$4:$X$7</c:f>
              <c:strCache>
                <c:ptCount val="4"/>
                <c:pt idx="0">
                  <c:v>Americas</c:v>
                </c:pt>
                <c:pt idx="1">
                  <c:v>Europe</c:v>
                </c:pt>
                <c:pt idx="2">
                  <c:v>Asia</c:v>
                </c:pt>
                <c:pt idx="3">
                  <c:v>Japan</c:v>
                </c:pt>
              </c:strCache>
            </c:strRef>
          </c:cat>
          <c:val>
            <c:numRef>
              <c:f>'Valuation Analysis'!$Y$4:$Y$7</c:f>
              <c:numCache>
                <c:formatCode>General</c:formatCode>
                <c:ptCount val="4"/>
                <c:pt idx="0">
                  <c:v>45</c:v>
                </c:pt>
                <c:pt idx="1">
                  <c:v>11</c:v>
                </c:pt>
                <c:pt idx="2">
                  <c:v>28</c:v>
                </c:pt>
                <c:pt idx="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B0-4A30-B573-C2DF20736840}"/>
            </c:ext>
          </c:extLst>
        </c:ser>
        <c:ser>
          <c:idx val="1"/>
          <c:order val="1"/>
          <c:tx>
            <c:strRef>
              <c:f>'Valuation Analysis'!$Z$3</c:f>
              <c:strCache>
                <c:ptCount val="1"/>
                <c:pt idx="0">
                  <c:v>LVMH %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'Valuation Analysis'!$X$4:$X$7</c:f>
              <c:strCache>
                <c:ptCount val="4"/>
                <c:pt idx="0">
                  <c:v>Americas</c:v>
                </c:pt>
                <c:pt idx="1">
                  <c:v>Europe</c:v>
                </c:pt>
                <c:pt idx="2">
                  <c:v>Asia</c:v>
                </c:pt>
                <c:pt idx="3">
                  <c:v>Japan</c:v>
                </c:pt>
              </c:strCache>
            </c:strRef>
          </c:cat>
          <c:val>
            <c:numRef>
              <c:f>'Valuation Analysis'!$Z$4:$Z$7</c:f>
              <c:numCache>
                <c:formatCode>General</c:formatCode>
                <c:ptCount val="4"/>
                <c:pt idx="0">
                  <c:v>24</c:v>
                </c:pt>
                <c:pt idx="1">
                  <c:v>29</c:v>
                </c:pt>
                <c:pt idx="2">
                  <c:v>29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B0-4A30-B573-C2DF207368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1002464"/>
        <c:axId val="320998144"/>
      </c:barChart>
      <c:catAx>
        <c:axId val="321002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0998144"/>
        <c:crosses val="autoZero"/>
        <c:auto val="1"/>
        <c:lblAlgn val="ctr"/>
        <c:lblOffset val="100"/>
        <c:noMultiLvlLbl val="0"/>
      </c:catAx>
      <c:valAx>
        <c:axId val="320998144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b="1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effectLst/>
                  </a:rPr>
                  <a:t>Revenue %</a:t>
                </a:r>
                <a:endParaRPr lang="en-IN" sz="14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002464"/>
        <c:crosses val="autoZero"/>
        <c:crossBetween val="between"/>
        <c:majorUnit val="15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1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015" y="1424668"/>
            <a:ext cx="7218058" cy="2891958"/>
          </a:xfrm>
        </p:spPr>
        <p:txBody>
          <a:bodyPr>
            <a:noAutofit/>
          </a:bodyPr>
          <a:lstStyle/>
          <a:p>
            <a:r>
              <a:rPr lang="en-US" sz="6000" dirty="0"/>
              <a:t>Tiffany &amp; Co.  --</a:t>
            </a:r>
            <a:br>
              <a:rPr lang="en-US" sz="6000" dirty="0"/>
            </a:br>
            <a:r>
              <a:rPr lang="en-US" sz="6000" dirty="0"/>
              <a:t>-LVMH Acquisition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3015" y="4865170"/>
            <a:ext cx="6269347" cy="1827857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PRESENTED BY – Group 3</a:t>
            </a:r>
          </a:p>
          <a:p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Rishav jhaveri</a:t>
            </a:r>
          </a:p>
          <a:p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Yash Mahavir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Khanter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Nitin Narayanaswamy </a:t>
            </a:r>
          </a:p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iffany &amp; Co. Logo | Fashion Logo Branding">
            <a:extLst>
              <a:ext uri="{FF2B5EF4-FFF2-40B4-BE49-F238E27FC236}">
                <a16:creationId xmlns:a16="http://schemas.microsoft.com/office/drawing/2014/main" id="{665BDBE9-FC6E-64C9-0869-69008B651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725" y="0"/>
            <a:ext cx="1819275" cy="2384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chemeClr val="tx1"/>
                </a:solidFill>
              </a:rPr>
              <a:t>The Situation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+mj-lt"/>
              </a:rPr>
              <a:t>LVMH Expected to Make an Offer </a:t>
            </a:r>
            <a:endParaRPr lang="en-US" dirty="0">
              <a:solidFill>
                <a:schemeClr val="tx1"/>
              </a:solidFill>
              <a:latin typeface="+mj-lt"/>
            </a:endParaRPr>
          </a:p>
          <a:p>
            <a:r>
              <a:rPr lang="en-US" b="1" dirty="0">
                <a:solidFill>
                  <a:schemeClr val="tx1"/>
                </a:solidFill>
                <a:latin typeface="+mj-lt"/>
              </a:rPr>
              <a:t>Current Position:</a:t>
            </a:r>
            <a:endParaRPr lang="en-US" dirty="0">
              <a:solidFill>
                <a:schemeClr val="tx1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Stock Price: $91.58 (down 35% from $140 peak in October 2018)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Market Capitalization: $11.2 billion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Enterprise Value: $11.4 billion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Shares Outstanding: 122 million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2" descr="Tiffany &amp; Co. Logo | Fashion Logo Branding">
            <a:extLst>
              <a:ext uri="{FF2B5EF4-FFF2-40B4-BE49-F238E27FC236}">
                <a16:creationId xmlns:a16="http://schemas.microsoft.com/office/drawing/2014/main" id="{D8888FA3-DC33-81A7-E567-24D229F8E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725" y="-113122"/>
            <a:ext cx="1819275" cy="230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Lvmh Logo PNG Vector (AI) Free Download">
            <a:extLst>
              <a:ext uri="{FF2B5EF4-FFF2-40B4-BE49-F238E27FC236}">
                <a16:creationId xmlns:a16="http://schemas.microsoft.com/office/drawing/2014/main" id="{441E0792-F73A-E8D3-E781-F58098EFC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51" b="17751"/>
          <a:stretch>
            <a:fillRect/>
          </a:stretch>
        </p:blipFill>
        <p:spPr bwMode="auto">
          <a:xfrm>
            <a:off x="7389381" y="594914"/>
            <a:ext cx="2856306" cy="107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BABC20-60F2-BC14-AE92-5891B2398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54156"/>
            <a:ext cx="10058400" cy="1450757"/>
          </a:xfrm>
        </p:spPr>
        <p:txBody>
          <a:bodyPr/>
          <a:lstStyle/>
          <a:p>
            <a:r>
              <a:rPr lang="en-US" sz="4400" i="1" dirty="0">
                <a:solidFill>
                  <a:schemeClr val="tx1"/>
                </a:solidFill>
              </a:rPr>
              <a:t>The Situation 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297914-01E9-84CE-A892-07DC8FB90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3584541"/>
            <a:ext cx="5133838" cy="4258559"/>
          </a:xfrm>
        </p:spPr>
        <p:txBody>
          <a:bodyPr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+mj-lt"/>
              </a:rPr>
              <a:t>Founded 1837 - 182 years of American luxury heritage</a:t>
            </a:r>
          </a:p>
          <a:p>
            <a:r>
              <a:rPr lang="en-US" sz="1400" dirty="0">
                <a:solidFill>
                  <a:schemeClr val="tx1"/>
                </a:solidFill>
                <a:latin typeface="+mj-lt"/>
              </a:rPr>
              <a:t>World's most iconic jewelry brand</a:t>
            </a:r>
          </a:p>
          <a:p>
            <a:r>
              <a:rPr lang="en-US" sz="1400" dirty="0">
                <a:solidFill>
                  <a:schemeClr val="tx1"/>
                </a:solidFill>
                <a:latin typeface="+mj-lt"/>
              </a:rPr>
              <a:t>Market Position: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#1 in United States (14.4% market share)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#2 globally (11.0% market share)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$4.4B revenue, 321 stores, 14,200 employees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30C8C3E-77E3-063C-788B-E338AB1A5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91360" y="3531721"/>
            <a:ext cx="5390110" cy="3231039"/>
          </a:xfrm>
        </p:spPr>
        <p:txBody>
          <a:bodyPr>
            <a:noAutofit/>
          </a:bodyPr>
          <a:lstStyle/>
          <a:p>
            <a:r>
              <a:rPr lang="en-IN" sz="1400" dirty="0">
                <a:solidFill>
                  <a:schemeClr val="tx1"/>
                </a:solidFill>
                <a:latin typeface="+mj-lt"/>
              </a:rPr>
              <a:t>World's largest luxury conglomerate</a:t>
            </a:r>
          </a:p>
          <a:p>
            <a:r>
              <a:rPr lang="en-IN" sz="1400" dirty="0">
                <a:solidFill>
                  <a:schemeClr val="tx1"/>
                </a:solidFill>
                <a:latin typeface="+mj-lt"/>
              </a:rPr>
              <a:t>75 brands across 5 segments</a:t>
            </a:r>
          </a:p>
          <a:p>
            <a:r>
              <a:rPr lang="en-IN" sz="1400" dirty="0">
                <a:solidFill>
                  <a:schemeClr val="tx1"/>
                </a:solidFill>
                <a:latin typeface="+mj-lt"/>
              </a:rPr>
              <a:t>CEO: Bernard Arnault (3rd richest person globally)</a:t>
            </a:r>
          </a:p>
          <a:p>
            <a:r>
              <a:rPr lang="en-IN" sz="1400" dirty="0">
                <a:solidFill>
                  <a:schemeClr val="tx1"/>
                </a:solidFill>
                <a:latin typeface="+mj-lt"/>
              </a:rPr>
              <a:t>Scale:</a:t>
            </a:r>
          </a:p>
          <a:p>
            <a:r>
              <a:rPr lang="en-IN" sz="1400" dirty="0">
                <a:solidFill>
                  <a:schemeClr val="tx1"/>
                </a:solidFill>
                <a:latin typeface="+mj-lt"/>
              </a:rPr>
              <a:t>Revenue: €46.8B ($53B)</a:t>
            </a:r>
          </a:p>
          <a:p>
            <a:r>
              <a:rPr lang="en-IN" sz="1400" dirty="0">
                <a:solidFill>
                  <a:schemeClr val="tx1"/>
                </a:solidFill>
                <a:latin typeface="+mj-lt"/>
              </a:rPr>
              <a:t>Market cap: $211B</a:t>
            </a:r>
          </a:p>
          <a:p>
            <a:r>
              <a:rPr lang="en-IN" sz="1400" dirty="0">
                <a:solidFill>
                  <a:schemeClr val="tx1"/>
                </a:solidFill>
                <a:latin typeface="+mj-lt"/>
              </a:rPr>
              <a:t>#1 in fashion, wine, perfumes, retail</a:t>
            </a:r>
          </a:p>
        </p:txBody>
      </p:sp>
      <p:pic>
        <p:nvPicPr>
          <p:cNvPr id="9" name="Picture 2" descr="Tiffany &amp; Co. Logo | Fashion Logo Branding">
            <a:extLst>
              <a:ext uri="{FF2B5EF4-FFF2-40B4-BE49-F238E27FC236}">
                <a16:creationId xmlns:a16="http://schemas.microsoft.com/office/drawing/2014/main" id="{628AD7B7-BE92-6E0C-9EC0-ACFC7206B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725" y="-113122"/>
            <a:ext cx="1819275" cy="230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Tiffany &amp; Co. Logo | Fashion Logo Branding">
            <a:extLst>
              <a:ext uri="{FF2B5EF4-FFF2-40B4-BE49-F238E27FC236}">
                <a16:creationId xmlns:a16="http://schemas.microsoft.com/office/drawing/2014/main" id="{7189A4D3-DAE1-638C-3577-CA566D5B0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060" y="1981119"/>
            <a:ext cx="1534344" cy="171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Lvmh Logo PNG Vector (AI) Free Download">
            <a:extLst>
              <a:ext uri="{FF2B5EF4-FFF2-40B4-BE49-F238E27FC236}">
                <a16:creationId xmlns:a16="http://schemas.microsoft.com/office/drawing/2014/main" id="{AD32935F-DFB1-7FBF-7B96-A3B34C0F1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51" b="17751"/>
          <a:stretch>
            <a:fillRect/>
          </a:stretch>
        </p:blipFill>
        <p:spPr bwMode="auto">
          <a:xfrm>
            <a:off x="7106577" y="2207926"/>
            <a:ext cx="2856306" cy="107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787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7F0B1-7481-2773-1861-695BFA88B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679179-9AF9-F439-4071-F266247E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54156"/>
            <a:ext cx="10058400" cy="1450757"/>
          </a:xfrm>
        </p:spPr>
        <p:txBody>
          <a:bodyPr/>
          <a:lstStyle/>
          <a:p>
            <a:r>
              <a:rPr lang="en-US" sz="4400" i="1" dirty="0">
                <a:solidFill>
                  <a:schemeClr val="tx1"/>
                </a:solidFill>
              </a:rPr>
              <a:t>The Situation 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969C8C-D2B4-0F01-8557-7030150E8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3584541"/>
            <a:ext cx="5133838" cy="4258559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+mj-lt"/>
              </a:rPr>
              <a:t>Current Challenges: Stock down 35% ($140 → $91.58) </a:t>
            </a:r>
          </a:p>
          <a:p>
            <a:r>
              <a:rPr lang="en-US" sz="1600" dirty="0">
                <a:solidFill>
                  <a:schemeClr val="tx1"/>
                </a:solidFill>
                <a:latin typeface="+mj-lt"/>
              </a:rPr>
              <a:t>Temporary headwinds: Hong Kong protests, trade war, strong USD</a:t>
            </a:r>
          </a:p>
          <a:p>
            <a:r>
              <a:rPr lang="en-US" sz="1600" dirty="0">
                <a:solidFill>
                  <a:schemeClr val="tx1"/>
                </a:solidFill>
                <a:latin typeface="+mj-lt"/>
              </a:rPr>
              <a:t>Turnaround plan underway (CEO </a:t>
            </a:r>
            <a:r>
              <a:rPr lang="en-US" sz="1600" dirty="0" err="1">
                <a:solidFill>
                  <a:schemeClr val="tx1"/>
                </a:solidFill>
                <a:latin typeface="+mj-lt"/>
              </a:rPr>
              <a:t>Bogliolo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, 2017)</a:t>
            </a:r>
          </a:p>
          <a:p>
            <a:r>
              <a:rPr lang="en-US" sz="1600" dirty="0">
                <a:solidFill>
                  <a:schemeClr val="tx1"/>
                </a:solidFill>
                <a:latin typeface="+mj-lt"/>
              </a:rPr>
              <a:t>China momentum strong (6 quarters double-digit growth)</a:t>
            </a:r>
            <a:endParaRPr lang="en-IN" sz="1600" dirty="0">
              <a:solidFill>
                <a:schemeClr val="tx1"/>
              </a:solidFill>
              <a:latin typeface="+mj-lt"/>
            </a:endParaRPr>
          </a:p>
          <a:p>
            <a:endParaRPr lang="en-US" sz="1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FAFA12B-D60F-12A5-B281-633FC08B94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00784" y="3584541"/>
            <a:ext cx="5390110" cy="2996234"/>
          </a:xfrm>
        </p:spPr>
        <p:txBody>
          <a:bodyPr>
            <a:noAutofit/>
          </a:bodyPr>
          <a:lstStyle/>
          <a:p>
            <a:r>
              <a:rPr lang="en-IN" sz="1600" dirty="0">
                <a:solidFill>
                  <a:schemeClr val="tx1"/>
                </a:solidFill>
                <a:latin typeface="+mj-lt"/>
              </a:rPr>
              <a:t>Current Challenges: #2 in </a:t>
            </a:r>
            <a:r>
              <a:rPr lang="en-IN" sz="1600" dirty="0" err="1">
                <a:solidFill>
                  <a:schemeClr val="tx1"/>
                </a:solidFill>
                <a:latin typeface="+mj-lt"/>
              </a:rPr>
              <a:t>jewelry</a:t>
            </a:r>
            <a:r>
              <a:rPr lang="en-IN" sz="1600" dirty="0">
                <a:solidFill>
                  <a:schemeClr val="tx1"/>
                </a:solidFill>
                <a:latin typeface="+mj-lt"/>
              </a:rPr>
              <a:t> (only 7.8% share vs Richemont 18.2%)</a:t>
            </a:r>
          </a:p>
          <a:p>
            <a:r>
              <a:rPr lang="en-IN" sz="1600" dirty="0" err="1">
                <a:solidFill>
                  <a:schemeClr val="tx1"/>
                </a:solidFill>
                <a:latin typeface="+mj-lt"/>
              </a:rPr>
              <a:t>Jewelry</a:t>
            </a:r>
            <a:r>
              <a:rPr lang="en-IN" sz="1600" dirty="0">
                <a:solidFill>
                  <a:schemeClr val="tx1"/>
                </a:solidFill>
                <a:latin typeface="+mj-lt"/>
              </a:rPr>
              <a:t> only 9% of revenue (smallest segment)</a:t>
            </a:r>
          </a:p>
          <a:p>
            <a:r>
              <a:rPr lang="en-IN" sz="1600" dirty="0">
                <a:solidFill>
                  <a:schemeClr val="tx1"/>
                </a:solidFill>
                <a:latin typeface="+mj-lt"/>
              </a:rPr>
              <a:t>Need scale to compete with Richemont (Cartier)</a:t>
            </a:r>
          </a:p>
          <a:p>
            <a:r>
              <a:rPr lang="en-IN" sz="1600" dirty="0">
                <a:solidFill>
                  <a:schemeClr val="tx1"/>
                </a:solidFill>
                <a:latin typeface="+mj-lt"/>
              </a:rPr>
              <a:t>No alternative targets available</a:t>
            </a:r>
          </a:p>
        </p:txBody>
      </p:sp>
      <p:pic>
        <p:nvPicPr>
          <p:cNvPr id="9" name="Picture 2" descr="Tiffany &amp; Co. Logo | Fashion Logo Branding">
            <a:extLst>
              <a:ext uri="{FF2B5EF4-FFF2-40B4-BE49-F238E27FC236}">
                <a16:creationId xmlns:a16="http://schemas.microsoft.com/office/drawing/2014/main" id="{03C73A58-5C8F-8BED-78E5-E75E6F957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725" y="-113122"/>
            <a:ext cx="1819275" cy="230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Tiffany &amp; Co. Logo | Fashion Logo Branding">
            <a:extLst>
              <a:ext uri="{FF2B5EF4-FFF2-40B4-BE49-F238E27FC236}">
                <a16:creationId xmlns:a16="http://schemas.microsoft.com/office/drawing/2014/main" id="{FF99AF2F-305F-BBEE-2002-9393CFE0B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060" y="1981119"/>
            <a:ext cx="1534344" cy="171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Lvmh Logo PNG Vector (AI) Free Download">
            <a:extLst>
              <a:ext uri="{FF2B5EF4-FFF2-40B4-BE49-F238E27FC236}">
                <a16:creationId xmlns:a16="http://schemas.microsoft.com/office/drawing/2014/main" id="{E3C809D8-F14D-53E7-6316-40D7082C4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51" b="17751"/>
          <a:stretch>
            <a:fillRect/>
          </a:stretch>
        </p:blipFill>
        <p:spPr bwMode="auto">
          <a:xfrm>
            <a:off x="7516419" y="2304591"/>
            <a:ext cx="2856306" cy="107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5258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A591D-353D-3953-BCC0-F04777E51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53B6-F5CD-AA8E-AB7E-C08AFA2C1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11569"/>
            <a:ext cx="10058400" cy="1450757"/>
          </a:xfrm>
        </p:spPr>
        <p:txBody>
          <a:bodyPr anchor="ctr">
            <a:normAutofit/>
          </a:bodyPr>
          <a:lstStyle/>
          <a:p>
            <a:pPr lvl="0"/>
            <a:r>
              <a:rPr lang="en-US" sz="4800" dirty="0">
                <a:solidFill>
                  <a:schemeClr val="tx1"/>
                </a:solidFill>
              </a:rPr>
              <a:t>The LVMH Problem – </a:t>
            </a:r>
            <a:r>
              <a:rPr lang="en-US" sz="4400" dirty="0">
                <a:solidFill>
                  <a:schemeClr val="tx1"/>
                </a:solidFill>
              </a:rPr>
              <a:t>Why LVMH Needs Us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6C2D8-E0CF-792D-571F-E25FB0C73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- </a:t>
            </a:r>
          </a:p>
        </p:txBody>
      </p:sp>
      <p:pic>
        <p:nvPicPr>
          <p:cNvPr id="4" name="Picture 2" descr="Tiffany &amp; Co. Logo | Fashion Logo Branding">
            <a:extLst>
              <a:ext uri="{FF2B5EF4-FFF2-40B4-BE49-F238E27FC236}">
                <a16:creationId xmlns:a16="http://schemas.microsoft.com/office/drawing/2014/main" id="{63F33CDF-2F14-D3F2-172F-3DC651B9C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725" y="-113122"/>
            <a:ext cx="1819275" cy="230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2543D2-5E79-7A47-079C-9DE9B5611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15880"/>
              </p:ext>
            </p:extLst>
          </p:nvPr>
        </p:nvGraphicFramePr>
        <p:xfrm>
          <a:off x="1097280" y="2588600"/>
          <a:ext cx="10058400" cy="219456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653867508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181091698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359566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+mj-lt"/>
                        </a:rPr>
                        <a:t>Luxury Segment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+mj-lt"/>
                        </a:rPr>
                        <a:t>LVMH 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+mj-lt"/>
                        </a:rPr>
                        <a:t>2018 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432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Fashion &amp; Leather Goods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#1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j-lt"/>
                        </a:rPr>
                        <a:t>€18.5B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341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Wine &amp; Spirits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#1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j-lt"/>
                        </a:rPr>
                        <a:t>€5.1B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043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Perfumes &amp; Cosmetics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#1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j-lt"/>
                        </a:rPr>
                        <a:t>€6.1B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2722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Selective Retail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#1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j-lt"/>
                        </a:rPr>
                        <a:t>€13.6B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74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+mj-lt"/>
                        </a:rPr>
                        <a:t>Watches &amp; </a:t>
                      </a:r>
                      <a:r>
                        <a:rPr lang="en-IN" b="1" dirty="0" err="1">
                          <a:latin typeface="+mj-lt"/>
                        </a:rPr>
                        <a:t>Jewelry</a:t>
                      </a:r>
                      <a:endParaRPr lang="en-IN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+mj-lt"/>
                        </a:rPr>
                        <a:t>#2*</a:t>
                      </a:r>
                      <a:endParaRPr lang="en-IN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+mj-lt"/>
                        </a:rPr>
                        <a:t>$4.1B</a:t>
                      </a:r>
                      <a:endParaRPr lang="en-IN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327500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0C5F811A-B5FD-4A72-1FB0-CF87BD278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782" y="2001401"/>
            <a:ext cx="61863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#1 in Everything... Except Jewelry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16C62E-5AA9-EE7A-F68C-292B0EFB4B67}"/>
              </a:ext>
            </a:extLst>
          </p:cNvPr>
          <p:cNvSpPr txBox="1"/>
          <p:nvPr/>
        </p:nvSpPr>
        <p:spPr>
          <a:xfrm>
            <a:off x="963891" y="5270069"/>
            <a:ext cx="102728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PROBLEM: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Jewelry is the only segment where LVMH does NOT lead. With only 7.8% market share vs Richemont's 18.2%, this is their biggest competitive gap and smallest business segment (9% of revenue).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C4E9C8-3275-A715-983C-FC7883E53127}"/>
              </a:ext>
            </a:extLst>
          </p:cNvPr>
          <p:cNvSpPr txBox="1"/>
          <p:nvPr/>
        </p:nvSpPr>
        <p:spPr>
          <a:xfrm>
            <a:off x="963891" y="4806814"/>
            <a:ext cx="11095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*Among conglomerates; #3 overall in market share (7.8% vs Richemont 18.2%, Tiffany 11.0%)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25290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7A24D-21DA-C3B4-2F2A-ECAF86756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Jewelry</a:t>
            </a:r>
            <a:r>
              <a:rPr lang="en-IN" dirty="0"/>
              <a:t> Market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CDFEE-F45E-CE41-45E5-B26875A98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14177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#1 </a:t>
            </a:r>
            <a:r>
              <a:rPr lang="en-IN" dirty="0">
                <a:solidFill>
                  <a:schemeClr val="tx1"/>
                </a:solidFill>
                <a:latin typeface="+mj-lt"/>
              </a:rPr>
              <a:t>Richemont (Cartier, Van Cleef</a:t>
            </a:r>
            <a:r>
              <a:rPr lang="en-IN" dirty="0">
                <a:latin typeface="+mj-lt"/>
              </a:rPr>
              <a:t>)  </a:t>
            </a: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████████████████████</a:t>
            </a:r>
            <a:r>
              <a:rPr lang="en-IN" dirty="0">
                <a:latin typeface="+mj-lt"/>
              </a:rPr>
              <a:t> </a:t>
            </a:r>
            <a:r>
              <a:rPr lang="en-IN" dirty="0">
                <a:solidFill>
                  <a:schemeClr val="tx1"/>
                </a:solidFill>
                <a:latin typeface="+mj-lt"/>
              </a:rPr>
              <a:t>18.2%</a:t>
            </a:r>
          </a:p>
          <a:p>
            <a:r>
              <a:rPr lang="en-IN" dirty="0">
                <a:solidFill>
                  <a:schemeClr val="tx1"/>
                </a:solidFill>
              </a:rPr>
              <a:t>#2 </a:t>
            </a:r>
            <a:r>
              <a:rPr lang="en-IN" dirty="0">
                <a:solidFill>
                  <a:schemeClr val="tx1"/>
                </a:solidFill>
                <a:latin typeface="+mj-lt"/>
              </a:rPr>
              <a:t>Tiffany &amp; Co.                            </a:t>
            </a:r>
            <a:r>
              <a:rPr lang="en-IN" dirty="0">
                <a:solidFill>
                  <a:schemeClr val="accent2"/>
                </a:solidFill>
                <a:latin typeface="+mj-lt"/>
              </a:rPr>
              <a:t>█████████████</a:t>
            </a:r>
            <a:r>
              <a:rPr lang="en-IN" dirty="0">
                <a:latin typeface="+mj-lt"/>
              </a:rPr>
              <a:t> </a:t>
            </a:r>
            <a:r>
              <a:rPr lang="en-IN" dirty="0">
                <a:solidFill>
                  <a:schemeClr val="tx1"/>
                </a:solidFill>
                <a:latin typeface="+mj-lt"/>
              </a:rPr>
              <a:t>11.0% </a:t>
            </a:r>
          </a:p>
          <a:p>
            <a:r>
              <a:rPr lang="en-IN" dirty="0">
                <a:solidFill>
                  <a:schemeClr val="tx1"/>
                </a:solidFill>
              </a:rPr>
              <a:t>#3</a:t>
            </a:r>
            <a:r>
              <a:rPr lang="en-IN" dirty="0">
                <a:solidFill>
                  <a:schemeClr val="tx1"/>
                </a:solidFill>
                <a:latin typeface="+mj-lt"/>
              </a:rPr>
              <a:t> LVMH (Bulgari, TAG Heuer)      </a:t>
            </a:r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████████</a:t>
            </a:r>
            <a:r>
              <a:rPr lang="en-IN" dirty="0">
                <a:latin typeface="+mj-lt"/>
              </a:rPr>
              <a:t> </a:t>
            </a:r>
            <a:r>
              <a:rPr lang="en-IN" dirty="0">
                <a:solidFill>
                  <a:schemeClr val="tx1"/>
                </a:solidFill>
                <a:latin typeface="+mj-lt"/>
              </a:rPr>
              <a:t>7.8%</a:t>
            </a:r>
          </a:p>
          <a:p>
            <a:r>
              <a:rPr lang="en-IN" dirty="0">
                <a:solidFill>
                  <a:schemeClr val="tx1"/>
                </a:solidFill>
                <a:latin typeface="+mj-lt"/>
              </a:rPr>
              <a:t>Post Acquisition:</a:t>
            </a:r>
          </a:p>
          <a:p>
            <a:r>
              <a:rPr lang="en-IN" dirty="0">
                <a:solidFill>
                  <a:schemeClr val="tx1"/>
                </a:solidFill>
              </a:rPr>
              <a:t>#1 </a:t>
            </a:r>
            <a:r>
              <a:rPr lang="en-IN" dirty="0">
                <a:solidFill>
                  <a:schemeClr val="tx1"/>
                </a:solidFill>
                <a:latin typeface="+mj-lt"/>
              </a:rPr>
              <a:t>LVMH + Tiffany                         </a:t>
            </a:r>
            <a:r>
              <a:rPr lang="en-IN" dirty="0">
                <a:solidFill>
                  <a:srgbClr val="92D050"/>
                </a:solidFill>
                <a:latin typeface="+mj-lt"/>
              </a:rPr>
              <a:t>████████████████████</a:t>
            </a:r>
            <a:r>
              <a:rPr lang="en-IN" dirty="0">
                <a:latin typeface="+mj-lt"/>
              </a:rPr>
              <a:t> </a:t>
            </a:r>
            <a:r>
              <a:rPr lang="en-IN" dirty="0">
                <a:solidFill>
                  <a:schemeClr val="tx1"/>
                </a:solidFill>
                <a:latin typeface="+mj-lt"/>
              </a:rPr>
              <a:t>18.8%</a:t>
            </a:r>
          </a:p>
          <a:p>
            <a:r>
              <a:rPr lang="en-IN" dirty="0">
                <a:solidFill>
                  <a:schemeClr val="tx1"/>
                </a:solidFill>
              </a:rPr>
              <a:t>#2 </a:t>
            </a:r>
            <a:r>
              <a:rPr lang="en-IN" dirty="0">
                <a:solidFill>
                  <a:schemeClr val="tx1"/>
                </a:solidFill>
                <a:latin typeface="+mj-lt"/>
              </a:rPr>
              <a:t>Richemont</a:t>
            </a:r>
            <a:r>
              <a:rPr lang="en-IN" dirty="0">
                <a:latin typeface="+mj-lt"/>
              </a:rPr>
              <a:t>                                ████████████████████ </a:t>
            </a:r>
            <a:r>
              <a:rPr lang="en-IN" dirty="0">
                <a:solidFill>
                  <a:schemeClr val="tx1"/>
                </a:solidFill>
                <a:latin typeface="+mj-lt"/>
              </a:rPr>
              <a:t>18.2%         </a:t>
            </a:r>
          </a:p>
          <a:p>
            <a:r>
              <a:rPr lang="en-IN" sz="2200" dirty="0">
                <a:solidFill>
                  <a:schemeClr val="tx1"/>
                </a:solidFill>
                <a:latin typeface="+mj-lt"/>
              </a:rPr>
              <a:t>*This acquisition instantly makes LVMH the </a:t>
            </a:r>
            <a:r>
              <a:rPr lang="en-IN" sz="2200" dirty="0" err="1">
                <a:solidFill>
                  <a:schemeClr val="tx1"/>
                </a:solidFill>
                <a:latin typeface="+mj-lt"/>
              </a:rPr>
              <a:t>jewelry</a:t>
            </a:r>
            <a:r>
              <a:rPr lang="en-IN" sz="2200" dirty="0">
                <a:solidFill>
                  <a:schemeClr val="tx1"/>
                </a:solidFill>
                <a:latin typeface="+mj-lt"/>
              </a:rPr>
              <a:t> market leader. It closes the competitive gap that has existed for over a decade.</a:t>
            </a:r>
          </a:p>
        </p:txBody>
      </p:sp>
      <p:pic>
        <p:nvPicPr>
          <p:cNvPr id="4" name="Picture 2" descr="Tiffany &amp; Co. Logo | Fashion Logo Branding">
            <a:extLst>
              <a:ext uri="{FF2B5EF4-FFF2-40B4-BE49-F238E27FC236}">
                <a16:creationId xmlns:a16="http://schemas.microsoft.com/office/drawing/2014/main" id="{185074D8-7FDD-C3BC-5483-098E841B6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725" y="-113122"/>
            <a:ext cx="1819275" cy="230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7087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0A1F7-F8EA-F124-06EC-A5297298F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Tiffany - The Only Option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9E5C0-8F38-2E08-CDFD-D5F518AE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1"/>
            <a:ext cx="10309153" cy="4179477"/>
          </a:xfrm>
        </p:spPr>
        <p:txBody>
          <a:bodyPr>
            <a:normAutofit lnSpcReduction="10000"/>
          </a:bodyPr>
          <a:lstStyle/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+mj-lt"/>
              </a:rPr>
              <a:t>  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LVMH has no alternative path to jewelry leadership. This creates                   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l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 significant negotiating leverage for us. 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Picture 2" descr="Tiffany &amp; Co. Logo | Fashion Logo Branding">
            <a:extLst>
              <a:ext uri="{FF2B5EF4-FFF2-40B4-BE49-F238E27FC236}">
                <a16:creationId xmlns:a16="http://schemas.microsoft.com/office/drawing/2014/main" id="{5613456B-43E1-C199-822F-10450541E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725" y="-113122"/>
            <a:ext cx="1819275" cy="230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A8DA4DE-F834-9AAE-FCE4-7B10D24E6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97047"/>
              </p:ext>
            </p:extLst>
          </p:nvPr>
        </p:nvGraphicFramePr>
        <p:xfrm>
          <a:off x="1307183" y="2187018"/>
          <a:ext cx="9495342" cy="3143111"/>
        </p:xfrm>
        <a:graphic>
          <a:graphicData uri="http://schemas.openxmlformats.org/drawingml/2006/table">
            <a:tbl>
              <a:tblPr/>
              <a:tblGrid>
                <a:gridCol w="1838392">
                  <a:extLst>
                    <a:ext uri="{9D8B030D-6E8A-4147-A177-3AD203B41FA5}">
                      <a16:colId xmlns:a16="http://schemas.microsoft.com/office/drawing/2014/main" val="1285201013"/>
                    </a:ext>
                  </a:extLst>
                </a:gridCol>
                <a:gridCol w="1614805">
                  <a:extLst>
                    <a:ext uri="{9D8B030D-6E8A-4147-A177-3AD203B41FA5}">
                      <a16:colId xmlns:a16="http://schemas.microsoft.com/office/drawing/2014/main" val="2011735391"/>
                    </a:ext>
                  </a:extLst>
                </a:gridCol>
                <a:gridCol w="6042145">
                  <a:extLst>
                    <a:ext uri="{9D8B030D-6E8A-4147-A177-3AD203B41FA5}">
                      <a16:colId xmlns:a16="http://schemas.microsoft.com/office/drawing/2014/main" val="3085810182"/>
                    </a:ext>
                  </a:extLst>
                </a:gridCol>
              </a:tblGrid>
              <a:tr h="441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Brand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Availability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Reason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458620"/>
                  </a:ext>
                </a:extLst>
              </a:tr>
              <a:tr h="628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Cartier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+mj-lt"/>
                        </a:rPr>
                        <a:t>    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Richemont owns Cartier (won't sell to rival)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155679"/>
                  </a:ext>
                </a:extLst>
              </a:tr>
              <a:tr h="441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Hermès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I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    ❌</a:t>
                      </a:r>
                      <a:endParaRPr lang="en-IN" sz="28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Family-controlled - LVMH tried in 2010-14, failed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621079"/>
                  </a:ext>
                </a:extLst>
              </a:tr>
              <a:tr h="441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Chanel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I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    ❌</a:t>
                      </a:r>
                      <a:endParaRPr lang="en-IN" sz="28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+mj-lt"/>
                        </a:rPr>
                        <a:t>Wertheimer family - Private, not for sale</a:t>
                      </a:r>
                      <a:endParaRPr lang="en-IN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8128"/>
                  </a:ext>
                </a:extLst>
              </a:tr>
              <a:tr h="441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+mj-lt"/>
                        </a:rPr>
                        <a:t>TIFFANY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+mj-lt"/>
                        </a:rPr>
                        <a:t>    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Public, available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732141"/>
                  </a:ext>
                </a:extLst>
              </a:tr>
              <a:tr h="441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+mj-lt"/>
                        </a:rPr>
                        <a:t>Others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I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    ❌</a:t>
                      </a:r>
                      <a:endParaRPr lang="en-IN" sz="28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Too small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590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499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120F7-990E-F52B-35B9-865232D20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4E2D7-233A-FA9E-497B-57F7D7158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Bulgari Precedent (2011)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EF794-5286-061C-3202-A4F2FA559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dirty="0">
                <a:solidFill>
                  <a:schemeClr val="tx1"/>
                </a:solidFill>
                <a:latin typeface="+mj-lt"/>
              </a:rPr>
              <a:t>LVMH's Last Jewelry Acquisition</a:t>
            </a:r>
            <a:endParaRPr lang="en-IN" dirty="0">
              <a:latin typeface="+mj-lt"/>
            </a:endParaRPr>
          </a:p>
          <a:p>
            <a:endParaRPr lang="en-IN" dirty="0"/>
          </a:p>
        </p:txBody>
      </p:sp>
      <p:pic>
        <p:nvPicPr>
          <p:cNvPr id="4" name="Picture 2" descr="Tiffany &amp; Co. Logo | Fashion Logo Branding">
            <a:extLst>
              <a:ext uri="{FF2B5EF4-FFF2-40B4-BE49-F238E27FC236}">
                <a16:creationId xmlns:a16="http://schemas.microsoft.com/office/drawing/2014/main" id="{BDA3D7B4-89E7-8883-454B-874706091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725" y="-113122"/>
            <a:ext cx="1819275" cy="230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B17041C-72D4-19D3-906B-62C8258F0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281" y="326032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1A3EB32-FFF4-179C-C9AE-29016B3C5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91436"/>
              </p:ext>
            </p:extLst>
          </p:nvPr>
        </p:nvGraphicFramePr>
        <p:xfrm>
          <a:off x="1096963" y="2842183"/>
          <a:ext cx="10058400" cy="237744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352311654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903769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641731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+mj-lt"/>
                        </a:rPr>
                        <a:t>Deal 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+mj-lt"/>
                        </a:rPr>
                        <a:t>Bulgari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+mj-lt"/>
                        </a:rPr>
                        <a:t>Why this is relevant to Tiffany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609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j-lt"/>
                        </a:rPr>
                        <a:t>Premium paid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+mj-lt"/>
                        </a:rPr>
                        <a:t>60%</a:t>
                      </a:r>
                      <a:endParaRPr lang="en-IN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j-lt"/>
                        </a:rPr>
                        <a:t>Same strategic imperative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851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j-lt"/>
                        </a:rPr>
                        <a:t>EV/EBIT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+mj-lt"/>
                        </a:rPr>
                        <a:t>29x</a:t>
                      </a:r>
                      <a:endParaRPr lang="en-IN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j-lt"/>
                        </a:rPr>
                        <a:t>Far above market (18x avg)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10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Rationale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+mj-lt"/>
                        </a:rPr>
                        <a:t>Fill jewelry gap, no alternatives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+mj-lt"/>
                        </a:rPr>
                        <a:t>Identical situation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658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Deal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+mj-lt"/>
                        </a:rPr>
                        <a:t>$5.2B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b="1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939479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585DA6C2-DBA4-263D-9B06-66AA66FF3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3118922"/>
            <a:ext cx="2616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0" name="Picture 4" descr="Bulgari Logo, symbol, meaning, history ...">
            <a:extLst>
              <a:ext uri="{FF2B5EF4-FFF2-40B4-BE49-F238E27FC236}">
                <a16:creationId xmlns:a16="http://schemas.microsoft.com/office/drawing/2014/main" id="{696DBB50-6CAB-6B44-82CA-8B1639568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104" y="5236659"/>
            <a:ext cx="2653960" cy="108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496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31C96-D833-4A38-A1BD-0EC8CF454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B16FC-C228-0B1D-C032-F7FB46D0D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Bulgari Success Under LVMH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0424ADD-2912-AAD1-ABE3-5935C77C5D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1653198"/>
              </p:ext>
            </p:extLst>
          </p:nvPr>
        </p:nvGraphicFramePr>
        <p:xfrm>
          <a:off x="1157612" y="2586743"/>
          <a:ext cx="10058400" cy="146304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7096470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412851211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93888592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6528228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+mj-lt"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+mj-lt"/>
                        </a:rPr>
                        <a:t>2011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+mj-lt"/>
                        </a:rPr>
                        <a:t>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+mj-lt"/>
                        </a:rPr>
                        <a:t>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845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j-lt"/>
                        </a:rPr>
                        <a:t>$1.5B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j-lt"/>
                        </a:rPr>
                        <a:t>$2.5B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+67%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080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EBIT Margin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j-lt"/>
                        </a:rPr>
                        <a:t>12%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j-lt"/>
                        </a:rPr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j-lt"/>
                        </a:rPr>
                        <a:t>+800 bps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695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j-lt"/>
                        </a:rPr>
                        <a:t>Stores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j-lt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j-lt"/>
                        </a:rPr>
                        <a:t>600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+mj-lt"/>
                        </a:rPr>
                        <a:t>Doubled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215680"/>
                  </a:ext>
                </a:extLst>
              </a:tr>
            </a:tbl>
          </a:graphicData>
        </a:graphic>
      </p:graphicFrame>
      <p:pic>
        <p:nvPicPr>
          <p:cNvPr id="4" name="Picture 2" descr="Tiffany &amp; Co. Logo | Fashion Logo Branding">
            <a:extLst>
              <a:ext uri="{FF2B5EF4-FFF2-40B4-BE49-F238E27FC236}">
                <a16:creationId xmlns:a16="http://schemas.microsoft.com/office/drawing/2014/main" id="{3BB749C2-C606-49BF-6FF5-7B0487D07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725" y="-113122"/>
            <a:ext cx="1819275" cy="230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D2BA0E5-1753-09E7-1245-56FA31EF6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2045648"/>
            <a:ext cx="525015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Post-Acquisition Results (2011-2018):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74145F-A559-6B24-86B2-67807A9BCBDD}"/>
              </a:ext>
            </a:extLst>
          </p:cNvPr>
          <p:cNvSpPr txBox="1"/>
          <p:nvPr/>
        </p:nvSpPr>
        <p:spPr>
          <a:xfrm>
            <a:off x="1097280" y="4295655"/>
            <a:ext cx="104882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What This Proves: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LVMH will pay premium multiples for strategic jewelry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LVMH successfully integrates and grows jewelry brands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Bulgari sets benchmark for Tiffany – High prices are justified by post-deal value creation </a:t>
            </a:r>
          </a:p>
        </p:txBody>
      </p:sp>
      <p:pic>
        <p:nvPicPr>
          <p:cNvPr id="9" name="Picture 4" descr="Bulgari Logo, symbol, meaning, history ...">
            <a:extLst>
              <a:ext uri="{FF2B5EF4-FFF2-40B4-BE49-F238E27FC236}">
                <a16:creationId xmlns:a16="http://schemas.microsoft.com/office/drawing/2014/main" id="{F85C3EAD-BFC0-0368-5223-BF04D9658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0305" y="5394351"/>
            <a:ext cx="2894028" cy="1010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54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12B24-6337-4DFF-9517-8E88305A1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CEB7B-A54A-C75E-074D-19613B0AE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we bring to LVMH</a:t>
            </a:r>
          </a:p>
        </p:txBody>
      </p:sp>
      <p:pic>
        <p:nvPicPr>
          <p:cNvPr id="4" name="Picture 2" descr="Tiffany &amp; Co. Logo | Fashion Logo Branding">
            <a:extLst>
              <a:ext uri="{FF2B5EF4-FFF2-40B4-BE49-F238E27FC236}">
                <a16:creationId xmlns:a16="http://schemas.microsoft.com/office/drawing/2014/main" id="{FCBE6BB5-0DDE-FC2D-DD0C-1AF9A34D3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725" y="-113122"/>
            <a:ext cx="1819275" cy="230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80C27E03-A79F-586B-88E2-3BB58A3324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5643184"/>
              </p:ext>
            </p:extLst>
          </p:nvPr>
        </p:nvGraphicFramePr>
        <p:xfrm>
          <a:off x="662125" y="2014919"/>
          <a:ext cx="7117237" cy="4121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E87210B-1706-3965-888F-0094D57A89B8}"/>
              </a:ext>
            </a:extLst>
          </p:cNvPr>
          <p:cNvSpPr txBox="1"/>
          <p:nvPr/>
        </p:nvSpPr>
        <p:spPr>
          <a:xfrm>
            <a:off x="7876772" y="2506223"/>
            <a:ext cx="43152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Geographic Fit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Gap: Tiffany’s Europe share only 11% vs. LVMH’s 29%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Key Takeaway: Tiffany’s heavy reliance on the Americas contrasts with LVMH’s balanced global footprint. This highlights a clear strategic opportunity for LVMH to expand </a:t>
            </a:r>
            <a:r>
              <a:rPr lang="en-US" altLang="en-US" dirty="0">
                <a:latin typeface="+mj-lt"/>
              </a:rPr>
              <a:t>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 presence.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F77A3D-7447-6FDB-4B4F-FB38BDA7133C}"/>
              </a:ext>
            </a:extLst>
          </p:cNvPr>
          <p:cNvSpPr txBox="1"/>
          <p:nvPr/>
        </p:nvSpPr>
        <p:spPr>
          <a:xfrm>
            <a:off x="1587524" y="2724945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Tiffany’s Strength: Americas – 45% of revenue ($2.0B in 2018)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4AEFBF-D984-08A8-E5D8-824FB37F63DA}"/>
              </a:ext>
            </a:extLst>
          </p:cNvPr>
          <p:cNvSpPr txBox="1"/>
          <p:nvPr/>
        </p:nvSpPr>
        <p:spPr>
          <a:xfrm>
            <a:off x="2901098" y="3448500"/>
            <a:ext cx="609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LVMH’s Strength: Europe – 29% of revenue</a:t>
            </a:r>
          </a:p>
        </p:txBody>
      </p:sp>
    </p:spTree>
    <p:extLst>
      <p:ext uri="{BB962C8B-B14F-4D97-AF65-F5344CB8AC3E}">
        <p14:creationId xmlns:p14="http://schemas.microsoft.com/office/powerpoint/2010/main" val="2021948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8B82F-497F-42FA-56C5-D5198D56A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we bring to LVMH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747326-CFF4-55DC-81A3-448D937119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7122114"/>
              </p:ext>
            </p:extLst>
          </p:nvPr>
        </p:nvGraphicFramePr>
        <p:xfrm>
          <a:off x="1384473" y="2240175"/>
          <a:ext cx="8993187" cy="3670459"/>
        </p:xfrm>
        <a:graphic>
          <a:graphicData uri="http://schemas.openxmlformats.org/drawingml/2006/table">
            <a:tbl>
              <a:tblPr/>
              <a:tblGrid>
                <a:gridCol w="2997729">
                  <a:extLst>
                    <a:ext uri="{9D8B030D-6E8A-4147-A177-3AD203B41FA5}">
                      <a16:colId xmlns:a16="http://schemas.microsoft.com/office/drawing/2014/main" val="3421403888"/>
                    </a:ext>
                  </a:extLst>
                </a:gridCol>
                <a:gridCol w="2997729">
                  <a:extLst>
                    <a:ext uri="{9D8B030D-6E8A-4147-A177-3AD203B41FA5}">
                      <a16:colId xmlns:a16="http://schemas.microsoft.com/office/drawing/2014/main" val="917088165"/>
                    </a:ext>
                  </a:extLst>
                </a:gridCol>
                <a:gridCol w="2997729">
                  <a:extLst>
                    <a:ext uri="{9D8B030D-6E8A-4147-A177-3AD203B41FA5}">
                      <a16:colId xmlns:a16="http://schemas.microsoft.com/office/drawing/2014/main" val="1207992442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b="0" dirty="0">
                        <a:latin typeface="+mj-lt"/>
                      </a:endParaRPr>
                    </a:p>
                  </a:txBody>
                  <a:tcPr marL="81756" marR="81756" marT="40878" marB="408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+mj-lt"/>
                        </a:rPr>
                        <a:t>Metric/Scale</a:t>
                      </a:r>
                    </a:p>
                  </a:txBody>
                  <a:tcPr marL="81756" marR="81756" marT="40878" marB="408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+mj-lt"/>
                        </a:rPr>
                        <a:t>Strategic Value to LVMH</a:t>
                      </a:r>
                    </a:p>
                  </a:txBody>
                  <a:tcPr marL="81756" marR="81756" marT="40878" marB="408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87059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+mj-lt"/>
                        </a:rPr>
                        <a:t>US Market Leadership</a:t>
                      </a:r>
                    </a:p>
                  </a:txBody>
                  <a:tcPr marL="81756" marR="81756" marT="40878" marB="408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j-lt"/>
                        </a:rPr>
                        <a:t>14.4% US market share (#1 position)</a:t>
                      </a:r>
                    </a:p>
                  </a:txBody>
                  <a:tcPr marL="81756" marR="81756" marT="40878" marB="408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j-lt"/>
                        </a:rPr>
                        <a:t>Instant Americas dominance in </a:t>
                      </a:r>
                      <a:r>
                        <a:rPr lang="en-IN" sz="1600" dirty="0" err="1">
                          <a:latin typeface="+mj-lt"/>
                        </a:rPr>
                        <a:t>jewelry</a:t>
                      </a:r>
                      <a:endParaRPr lang="en-IN" sz="1600" dirty="0">
                        <a:latin typeface="+mj-lt"/>
                      </a:endParaRPr>
                    </a:p>
                  </a:txBody>
                  <a:tcPr marL="81756" marR="81756" marT="40878" marB="408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981746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+mj-lt"/>
                        </a:rPr>
                        <a:t>Established Infrastructure</a:t>
                      </a:r>
                    </a:p>
                  </a:txBody>
                  <a:tcPr marL="81756" marR="81756" marT="40878" marB="408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j-lt"/>
                        </a:rPr>
                        <a:t>321 company-operated stores worldwide</a:t>
                      </a:r>
                    </a:p>
                  </a:txBody>
                  <a:tcPr marL="81756" marR="81756" marT="40878" marB="408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j-lt"/>
                        </a:rPr>
                        <a:t>Immediate global footprint, prime locations</a:t>
                      </a:r>
                    </a:p>
                  </a:txBody>
                  <a:tcPr marL="81756" marR="81756" marT="40878" marB="408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856624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+mj-lt"/>
                        </a:rPr>
                        <a:t>American Heritage Brand</a:t>
                      </a:r>
                    </a:p>
                  </a:txBody>
                  <a:tcPr marL="81756" marR="81756" marT="40878" marB="408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j-lt"/>
                        </a:rPr>
                        <a:t>182-year iconic status, cultural relevance</a:t>
                      </a:r>
                    </a:p>
                  </a:txBody>
                  <a:tcPr marL="81756" marR="81756" marT="40878" marB="408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j-lt"/>
                        </a:rPr>
                        <a:t>Only major US luxury jeweler (authentic positioning)</a:t>
                      </a:r>
                    </a:p>
                  </a:txBody>
                  <a:tcPr marL="81756" marR="81756" marT="40878" marB="408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101376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+mj-lt"/>
                        </a:rPr>
                        <a:t>China Growth Momentum</a:t>
                      </a:r>
                    </a:p>
                  </a:txBody>
                  <a:tcPr marL="81756" marR="81756" marT="40878" marB="408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j-lt"/>
                        </a:rPr>
                        <a:t>6 consecutive quarters double-digit growth</a:t>
                      </a:r>
                    </a:p>
                  </a:txBody>
                  <a:tcPr marL="81756" marR="81756" marT="40878" marB="408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j-lt"/>
                        </a:rPr>
                        <a:t>Platform to build on in critical market</a:t>
                      </a:r>
                    </a:p>
                  </a:txBody>
                  <a:tcPr marL="81756" marR="81756" marT="40878" marB="408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586574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+mj-lt"/>
                        </a:rPr>
                        <a:t>Underdeveloped Platforms</a:t>
                      </a:r>
                    </a:p>
                  </a:txBody>
                  <a:tcPr marL="81756" marR="81756" marT="40878" marB="408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j-lt"/>
                        </a:rPr>
                        <a:t>Europe 11%, Watches 8% of revenue</a:t>
                      </a:r>
                    </a:p>
                  </a:txBody>
                  <a:tcPr marL="81756" marR="81756" marT="40878" marB="408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j-lt"/>
                        </a:rPr>
                        <a:t>Easy expansion opportunities for LVMH expertise</a:t>
                      </a:r>
                    </a:p>
                  </a:txBody>
                  <a:tcPr marL="81756" marR="81756" marT="40878" marB="408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634355"/>
                  </a:ext>
                </a:extLst>
              </a:tr>
            </a:tbl>
          </a:graphicData>
        </a:graphic>
      </p:graphicFrame>
      <p:pic>
        <p:nvPicPr>
          <p:cNvPr id="5" name="Picture 2" descr="Tiffany &amp; Co. Logo | Fashion Logo Branding">
            <a:extLst>
              <a:ext uri="{FF2B5EF4-FFF2-40B4-BE49-F238E27FC236}">
                <a16:creationId xmlns:a16="http://schemas.microsoft.com/office/drawing/2014/main" id="{C00308D3-77B7-827D-6A39-B87CC2FE1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725" y="-113122"/>
            <a:ext cx="1819275" cy="230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150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7FCE9-4C0D-BAFD-79FA-45C61F54F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we bring to LVMH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5648FE-B29D-F309-A4B5-09B35330E0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847" y="2187018"/>
            <a:ext cx="7560297" cy="3817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2" descr="Tiffany &amp; Co. Logo | Fashion Logo Branding">
            <a:extLst>
              <a:ext uri="{FF2B5EF4-FFF2-40B4-BE49-F238E27FC236}">
                <a16:creationId xmlns:a16="http://schemas.microsoft.com/office/drawing/2014/main" id="{70BBCBB3-F904-A728-0AF8-1F0180086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725" y="-113122"/>
            <a:ext cx="1819275" cy="230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1036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69B94-32E0-778A-6AFC-917078F5B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we bring to LVMH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3D0A1D-FDBC-E949-BD70-0F0E6183A3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6331632"/>
              </p:ext>
            </p:extLst>
          </p:nvPr>
        </p:nvGraphicFramePr>
        <p:xfrm>
          <a:off x="1425177" y="2090894"/>
          <a:ext cx="9401972" cy="4173003"/>
        </p:xfrm>
        <a:graphic>
          <a:graphicData uri="http://schemas.openxmlformats.org/drawingml/2006/table">
            <a:tbl>
              <a:tblPr/>
              <a:tblGrid>
                <a:gridCol w="2350493">
                  <a:extLst>
                    <a:ext uri="{9D8B030D-6E8A-4147-A177-3AD203B41FA5}">
                      <a16:colId xmlns:a16="http://schemas.microsoft.com/office/drawing/2014/main" val="2158400689"/>
                    </a:ext>
                  </a:extLst>
                </a:gridCol>
                <a:gridCol w="2350493">
                  <a:extLst>
                    <a:ext uri="{9D8B030D-6E8A-4147-A177-3AD203B41FA5}">
                      <a16:colId xmlns:a16="http://schemas.microsoft.com/office/drawing/2014/main" val="1121153174"/>
                    </a:ext>
                  </a:extLst>
                </a:gridCol>
                <a:gridCol w="2350493">
                  <a:extLst>
                    <a:ext uri="{9D8B030D-6E8A-4147-A177-3AD203B41FA5}">
                      <a16:colId xmlns:a16="http://schemas.microsoft.com/office/drawing/2014/main" val="4024867744"/>
                    </a:ext>
                  </a:extLst>
                </a:gridCol>
                <a:gridCol w="2350493">
                  <a:extLst>
                    <a:ext uri="{9D8B030D-6E8A-4147-A177-3AD203B41FA5}">
                      <a16:colId xmlns:a16="http://schemas.microsoft.com/office/drawing/2014/main" val="3741057132"/>
                    </a:ext>
                  </a:extLst>
                </a:gridCol>
              </a:tblGrid>
              <a:tr h="598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j-lt"/>
                        </a:rPr>
                        <a:t>Growth Platform</a:t>
                      </a: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j-lt"/>
                        </a:rPr>
                        <a:t>Tiffany's Current Position</a:t>
                      </a: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+mj-lt"/>
                        </a:rPr>
                        <a:t>What LVMH Can Do with It</a:t>
                      </a: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+mj-lt"/>
                        </a:rPr>
                        <a:t>Value LVMH Creates</a:t>
                      </a: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50608"/>
                  </a:ext>
                </a:extLst>
              </a:tr>
              <a:tr h="854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+mj-lt"/>
                        </a:rPr>
                        <a:t>China/Asia Market</a:t>
                      </a: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+mj-lt"/>
                        </a:rPr>
                        <a:t>$1.2B revenue, 7% growth, strong momentum</a:t>
                      </a: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+mj-lt"/>
                        </a:rPr>
                        <a:t>Leverage 140+ LVMH stores, WeChat platform → 17% growth</a:t>
                      </a: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+mj-lt"/>
                        </a:rPr>
                        <a:t>$200-300M/year</a:t>
                      </a: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832577"/>
                  </a:ext>
                </a:extLst>
              </a:tr>
              <a:tr h="854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+mj-lt"/>
                        </a:rPr>
                        <a:t>Europe Market</a:t>
                      </a: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+mj-lt"/>
                        </a:rPr>
                        <a:t>$504M revenue (11% of total), 3% growth, 47 stores</a:t>
                      </a: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+mj-lt"/>
                        </a:rPr>
                        <a:t>Leverage 320+ LVMH stores, prime locations → 12-15% growth</a:t>
                      </a: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+mj-lt"/>
                        </a:rPr>
                        <a:t>$500M+/year</a:t>
                      </a: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099435"/>
                  </a:ext>
                </a:extLst>
              </a:tr>
              <a:tr h="854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+mj-lt"/>
                        </a:rPr>
                        <a:t>Watch Category</a:t>
                      </a: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+mj-lt"/>
                        </a:rPr>
                        <a:t>$350M revenue (8% of total), fashion positioning</a:t>
                      </a: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+mj-lt"/>
                        </a:rPr>
                        <a:t>Leverage TAG Heuer Swiss expertise → premium watches</a:t>
                      </a: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+mj-lt"/>
                        </a:rPr>
                        <a:t>$400M+/year</a:t>
                      </a: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4143290"/>
                  </a:ext>
                </a:extLst>
              </a:tr>
              <a:tr h="598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j-lt"/>
                        </a:rPr>
                        <a:t>TOTAL REVENUE SYNERGIES</a:t>
                      </a: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b="1">
                        <a:latin typeface="+mj-lt"/>
                      </a:endParaRP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b="1">
                        <a:latin typeface="+mj-lt"/>
                      </a:endParaRP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+mj-lt"/>
                        </a:rPr>
                        <a:t>$1.1B/year</a:t>
                      </a:r>
                    </a:p>
                  </a:txBody>
                  <a:tcPr marL="85472" marR="85472" marT="42736" marB="42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294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1602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A099B-1FAB-6BCC-2508-51A3B081A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CED1B-0474-8CDA-5118-F18140405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en-IN" dirty="0" err="1"/>
              <a:t>aluation</a:t>
            </a:r>
            <a:r>
              <a:rPr lang="en-IN" dirty="0"/>
              <a:t> Summary</a:t>
            </a:r>
          </a:p>
        </p:txBody>
      </p:sp>
      <p:pic>
        <p:nvPicPr>
          <p:cNvPr id="4" name="Picture 2" descr="Tiffany &amp; Co. Logo | Fashion Logo Branding">
            <a:extLst>
              <a:ext uri="{FF2B5EF4-FFF2-40B4-BE49-F238E27FC236}">
                <a16:creationId xmlns:a16="http://schemas.microsoft.com/office/drawing/2014/main" id="{A7A9CF4F-FBC5-DD7C-7DCE-A75A5C24D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725" y="-113122"/>
            <a:ext cx="1819275" cy="230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C8F98EDF-50A1-FD9E-8253-DCA916B828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8825756"/>
              </p:ext>
            </p:extLst>
          </p:nvPr>
        </p:nvGraphicFramePr>
        <p:xfrm>
          <a:off x="1097280" y="2384372"/>
          <a:ext cx="10058400" cy="3403687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8739520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4284447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52658812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43781155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964567567"/>
                    </a:ext>
                  </a:extLst>
                </a:gridCol>
              </a:tblGrid>
              <a:tr h="486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Implied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117440"/>
                  </a:ext>
                </a:extLst>
              </a:tr>
              <a:tr h="486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DCF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$71.86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$105.23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$216.66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397215"/>
                  </a:ext>
                </a:extLst>
              </a:tr>
              <a:tr h="486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EV/Revenue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$34.52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$108.42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$293.77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066232"/>
                  </a:ext>
                </a:extLst>
              </a:tr>
              <a:tr h="486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EV/EBITDA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$47.49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$94.62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$233.51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643089"/>
                  </a:ext>
                </a:extLst>
              </a:tr>
              <a:tr h="486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EV/EBIT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$62.88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$135.00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$515.40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357533"/>
                  </a:ext>
                </a:extLst>
              </a:tr>
              <a:tr h="486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P/E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$36.55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$91.48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$134.69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811116"/>
                  </a:ext>
                </a:extLst>
              </a:tr>
              <a:tr h="486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Weighted Avg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$106.95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100%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462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9760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458F-E146-5AF6-7EB2-66DA5A49154A}"/>
              </a:ext>
            </a:extLst>
          </p:cNvPr>
          <p:cNvSpPr>
            <a:spLocks noGrp="1" noChangeAspect="1"/>
          </p:cNvSpPr>
          <p:nvPr>
            <p:ph type="title"/>
          </p:nvPr>
        </p:nvSpPr>
        <p:spPr>
          <a:xfrm>
            <a:off x="275821" y="-457955"/>
            <a:ext cx="3517567" cy="2093975"/>
          </a:xfrm>
        </p:spPr>
        <p:txBody>
          <a:bodyPr/>
          <a:lstStyle/>
          <a:p>
            <a:r>
              <a:rPr lang="en-IN" dirty="0"/>
              <a:t>Football Field Valuation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E5BFDB-943B-9C54-CEBD-9887188F1C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3864990" y="0"/>
            <a:ext cx="7522149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1522299-8A56-014D-D5A3-54E875A0E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0979" y="2524576"/>
            <a:ext cx="3517567" cy="3064505"/>
          </a:xfrm>
        </p:spPr>
        <p:txBody>
          <a:bodyPr/>
          <a:lstStyle/>
          <a:p>
            <a:endParaRPr lang="en-IN"/>
          </a:p>
        </p:txBody>
      </p:sp>
      <p:pic>
        <p:nvPicPr>
          <p:cNvPr id="4" name="Picture 2" descr="Tiffany &amp; Co. Logo | Fashion Logo Branding">
            <a:extLst>
              <a:ext uri="{FF2B5EF4-FFF2-40B4-BE49-F238E27FC236}">
                <a16:creationId xmlns:a16="http://schemas.microsoft.com/office/drawing/2014/main" id="{4BD34A1B-B05E-5B4C-F1D8-E6EDDB951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725" y="-113122"/>
            <a:ext cx="1819275" cy="230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915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246C0629-DB89-AFD8-5F3F-88E7CD7E6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Our Price Position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4E72D654-35E6-4B1F-D279-8A4D8E772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0316" y="2234151"/>
            <a:ext cx="6540809" cy="390269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kern="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  <a:endParaRPr lang="en-IN" sz="1800" kern="100" dirty="0">
              <a:solidFill>
                <a:schemeClr val="tx1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Standalone: $105-107</a:t>
            </a:r>
            <a:endParaRPr lang="en-IN" sz="1800" kern="100" dirty="0">
              <a:solidFill>
                <a:schemeClr val="tx1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With Synergies: </a:t>
            </a:r>
            <a:r>
              <a:rPr lang="en-IN" sz="1800" kern="1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125-132 per share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Bulgari precedent: $147-175 per share</a:t>
            </a:r>
            <a:endParaRPr lang="en-IN" sz="1800" kern="100" dirty="0">
              <a:solidFill>
                <a:schemeClr val="tx1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Opening position: $145 per share</a:t>
            </a:r>
            <a:endParaRPr lang="en-IN" sz="1800" kern="100" dirty="0">
              <a:solidFill>
                <a:schemeClr val="tx1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25" name="Picture 2" descr="Tiffany &amp; Co. Logo | Fashion Logo Branding">
            <a:extLst>
              <a:ext uri="{FF2B5EF4-FFF2-40B4-BE49-F238E27FC236}">
                <a16:creationId xmlns:a16="http://schemas.microsoft.com/office/drawing/2014/main" id="{D1EFCEAC-4602-184A-7933-F8801835A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725" y="-113122"/>
            <a:ext cx="1819275" cy="230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483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9247F-49B1-640E-3256-ACC3D62D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90782-DC89-F3F7-3E32-B9C9777F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Our Leverage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4AABD-07AC-B459-BB51-FD2610930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  <a:latin typeface="+mj-lt"/>
              </a:rPr>
              <a:t>Why we're strong: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+mj-lt"/>
              </a:rPr>
              <a:t>LVMH desperate - No alternative, must close </a:t>
            </a:r>
            <a:r>
              <a:rPr lang="en-IN" dirty="0" err="1">
                <a:solidFill>
                  <a:schemeClr val="tx1"/>
                </a:solidFill>
                <a:latin typeface="+mj-lt"/>
              </a:rPr>
              <a:t>jewelry</a:t>
            </a:r>
            <a:r>
              <a:rPr lang="en-IN" dirty="0">
                <a:solidFill>
                  <a:schemeClr val="tx1"/>
                </a:solidFill>
                <a:latin typeface="+mj-lt"/>
              </a:rPr>
              <a:t> gap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+mj-lt"/>
              </a:rPr>
              <a:t>Bulgari precedent - 60% premium, 29x EBIT benchmark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+mj-lt"/>
              </a:rPr>
              <a:t>Competing bidders - Richemont, Kering, Berkshire possible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+mj-lt"/>
              </a:rPr>
              <a:t>Standalone works - Turnaround on track, stock recovers to $120-130+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+mj-lt"/>
              </a:rPr>
              <a:t>Time </a:t>
            </a:r>
            <a:r>
              <a:rPr lang="en-IN" dirty="0" err="1">
                <a:solidFill>
                  <a:schemeClr val="tx1"/>
                </a:solidFill>
                <a:latin typeface="+mj-lt"/>
              </a:rPr>
              <a:t>favors</a:t>
            </a:r>
            <a:r>
              <a:rPr lang="en-IN" dirty="0">
                <a:solidFill>
                  <a:schemeClr val="tx1"/>
                </a:solidFill>
                <a:latin typeface="+mj-lt"/>
              </a:rPr>
              <a:t> us - Temporary headwinds normalizing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4" name="Picture 2" descr="Tiffany &amp; Co. Logo | Fashion Logo Branding">
            <a:extLst>
              <a:ext uri="{FF2B5EF4-FFF2-40B4-BE49-F238E27FC236}">
                <a16:creationId xmlns:a16="http://schemas.microsoft.com/office/drawing/2014/main" id="{0C2D7515-28F3-8698-7123-33B3424CD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725" y="-113122"/>
            <a:ext cx="1819275" cy="230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3416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0981-BF1E-A2F9-0021-B036AC19B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7506" y="570416"/>
            <a:ext cx="10058400" cy="3566160"/>
          </a:xfrm>
        </p:spPr>
        <p:txBody>
          <a:bodyPr/>
          <a:lstStyle/>
          <a:p>
            <a:r>
              <a:rPr lang="en-US" sz="9600" dirty="0"/>
              <a:t>THANK YOU</a:t>
            </a:r>
            <a:endParaRPr lang="en-IN" sz="9600" dirty="0"/>
          </a:p>
        </p:txBody>
      </p:sp>
      <p:pic>
        <p:nvPicPr>
          <p:cNvPr id="8" name="Picture 2" descr="Tiffany &amp; Co. Logo | Fashion Logo Branding">
            <a:extLst>
              <a:ext uri="{FF2B5EF4-FFF2-40B4-BE49-F238E27FC236}">
                <a16:creationId xmlns:a16="http://schemas.microsoft.com/office/drawing/2014/main" id="{285AA4C2-FBEF-598E-AFCE-401CF9A82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725" y="-113122"/>
            <a:ext cx="1819275" cy="230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765165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{83A39377-7B24-4A76-8E93-DF9FB662C6A9}tf56160789_win32</Template>
  <TotalTime>2591</TotalTime>
  <Words>1077</Words>
  <Application>Microsoft Office PowerPoint</Application>
  <PresentationFormat>Widescreen</PresentationFormat>
  <Paragraphs>229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Bookman Old Style</vt:lpstr>
      <vt:lpstr>Calibri</vt:lpstr>
      <vt:lpstr>Franklin Gothic Book</vt:lpstr>
      <vt:lpstr>Symbol</vt:lpstr>
      <vt:lpstr>Custom</vt:lpstr>
      <vt:lpstr>Tiffany &amp; Co.  -- -LVMH Acquisition Proposal</vt:lpstr>
      <vt:lpstr>The Situation  </vt:lpstr>
      <vt:lpstr>The Situation </vt:lpstr>
      <vt:lpstr>The Situation </vt:lpstr>
      <vt:lpstr>The LVMH Problem – Why LVMH Needs Us </vt:lpstr>
      <vt:lpstr>The Jewelry Market Gap</vt:lpstr>
      <vt:lpstr>Tiffany - The Only Option</vt:lpstr>
      <vt:lpstr>The Bulgari Precedent (2011)</vt:lpstr>
      <vt:lpstr>Bulgari Success Under LVMH</vt:lpstr>
      <vt:lpstr>What we bring to LVMH</vt:lpstr>
      <vt:lpstr>What we bring to LVMH</vt:lpstr>
      <vt:lpstr>What we bring to LVMH</vt:lpstr>
      <vt:lpstr>What we bring to LVMH</vt:lpstr>
      <vt:lpstr>Valuation Summary</vt:lpstr>
      <vt:lpstr>Football Field Valuation</vt:lpstr>
      <vt:lpstr>Our Price Position</vt:lpstr>
      <vt:lpstr>Our Leverage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Rishav jhaveri</dc:creator>
  <cp:lastModifiedBy>Rishav jhaveri</cp:lastModifiedBy>
  <cp:revision>2</cp:revision>
  <dcterms:created xsi:type="dcterms:W3CDTF">2025-10-31T21:56:28Z</dcterms:created>
  <dcterms:modified xsi:type="dcterms:W3CDTF">2025-11-02T22:19:33Z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